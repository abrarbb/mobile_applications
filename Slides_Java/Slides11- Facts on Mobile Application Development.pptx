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8" r:id="rId1"/>
  </p:sldMasterIdLst>
  <p:sldIdLst>
    <p:sldId id="256" r:id="rId2"/>
    <p:sldId id="258" r:id="rId3"/>
    <p:sldId id="260" r:id="rId4"/>
    <p:sldId id="261" r:id="rId5"/>
    <p:sldId id="262" r:id="rId6"/>
    <p:sldId id="259" r:id="rId7"/>
    <p:sldId id="263" r:id="rId8"/>
    <p:sldId id="276" r:id="rId9"/>
    <p:sldId id="264" r:id="rId10"/>
    <p:sldId id="283" r:id="rId11"/>
    <p:sldId id="284" r:id="rId12"/>
    <p:sldId id="265" r:id="rId13"/>
    <p:sldId id="266" r:id="rId14"/>
    <p:sldId id="278" r:id="rId15"/>
    <p:sldId id="279" r:id="rId16"/>
    <p:sldId id="280" r:id="rId17"/>
    <p:sldId id="281" r:id="rId18"/>
    <p:sldId id="277" r:id="rId19"/>
    <p:sldId id="267" r:id="rId20"/>
    <p:sldId id="268" r:id="rId21"/>
    <p:sldId id="272" r:id="rId22"/>
    <p:sldId id="274" r:id="rId23"/>
    <p:sldId id="286" r:id="rId24"/>
    <p:sldId id="285" r:id="rId25"/>
    <p:sldId id="282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67" autoAdjust="0"/>
    <p:restoredTop sz="94709"/>
  </p:normalViewPr>
  <p:slideViewPr>
    <p:cSldViewPr>
      <p:cViewPr varScale="1">
        <p:scale>
          <a:sx n="143" d="100"/>
          <a:sy n="143" d="100"/>
        </p:scale>
        <p:origin x="1512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12T07:14:03.1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1705 5030 24575,'-5'41'0,"-1"0"0,0-1 0,1 1 0,-3 1 0,-2 1 0,0 2 0,-1 1 0,0 2 0,0-5 0,0 1 0,-1 2 0,-1 0 0,0 1 0,0 1 0,0 1-410,0-2 0,0 1 1,0 1-1,-1 0 1,0 1-1,0-1 0,1 1 1,-1 0 44,3-5 1,-1 1 0,0 0 0,0-1 0,1 1 0,-1 0 0,1 0 0,1-1 0,-1 1-29,0 3 0,1 0 1,-1 0-1,1 0 0,0 0 1,1 0-1,0-1 0,1-1 311,0 4 1,1-2 0,0 1-1,1-1 1,0-1 0,1 0-1,0-1 82,0 1 0,-2-2 0,2 0 0,1-1 0,4 1 0,5-1 22,4-2 1,5 0-1,3 1 1,2-1 0,1-1-1,0-3 1,-2-2-23,2 7 0,0-4 0,2-1 0,4-1-164,5-1 1,6 1 0,2-1 0,0-3 0,-4-5 163,3 0 0,-2-5 0,-2 1 1092,-3 2 0,-1 1 0,-5 7-1055,-9 5 1,-2 7-1,-3 4 1,-4 2-1,-2-2-37,-3-8 0,-2-1 0,-3 1 0,-1 1 0,-2 2 0,-2 3-238,1-8 1,-2 3 0,-1 1-1,-1 2 1,-1 1 0,-2 0-1,0 1 1,0-1 0,-2 0-1,0 0 238,-1-2 0,0 0 0,-2 0 0,-1 0 0,0 1 0,-1-1 0,0 0 0,-1 0 0,0 1 0,0-1 0,0 0-192,1-3 0,0 1 0,-1-1 0,1 0 0,-1 0 1,-1 1-1,1-1 0,-1 0 0,1 0 0,-1 0 1,1-1-1,0 0 192,-1 3 0,-1 0 0,0-1 0,1 1 0,-1-1 0,0 1 0,1-2 0,0 0 0,0-1 0,1 0 0,0-2-114,-4 7 1,1-1-1,0-1 1,1 0 0,0-2-1,0-1 1,2-1-1,-1-2 114,-4 8 0,1-1 0,0-3 0,1-2 0,2-2 17,1-2 1,0-3 0,2-2 0,2-4-18,-4 4 0,3-6 3276,-2-4-2834,11-16 2834,7-7-992,1-3 992,2 0-2897,0-2-338,0 2-41,0 0 0,0-3 0,1 1 0,0-5 0,3-5 0,-3 1 0,1-5 0,-2 8 0,0 6 0,22 31 0,4 2 0,7 6 0,-6-5 0,4 3 0,2 2 0,3 3-469,-7-6 1,3 1 0,2 2 0,0 2 0,2 0 0,0 1 0,0 1 128,-2-4 0,0 2 0,1 0 1,0 0-1,1 2 0,1 0 0,-1 0 1,1 1-1,0 1 66,-5-6 1,0 1 0,0 1 0,1 0 0,0 0 0,0 1 0,0 0 0,0 1 0,0-1 0,0 0 0,0 1 0,-1-1 155,1 1 1,-1-1-1,1 2 1,0-1 0,0 1-1,-1-1 1,1 1 0,-1-1-1,-1 0 1,0 0 0,0-1-1,-1 0 118,1 2 0,0 0 0,-1-1 0,0 0 0,0 0 0,-1-1 0,0 1 0,-1 0 0,0 0 0,-1 1-207,2 3 0,1 2 0,-1 1 0,0-1 0,-1 0 0,-1 0 0,-2-2 0,-1-1 0,-2-3 207,4 7 0,-4-3 0,-1-2 0,-1 0 0,0 2-129,1 4 0,0 2 0,0-1 0,-2-1 0,-2-3 129,1 6 0,-2-3 0,2-2 904,1 0 0,2-2 1,1-1-905,1-3 0,1-1 0,2-2 0,2-3 0,1-1 0,0-2 0,-4-4 0,0-2 0,2 6 0,-2 0 0,4 7 0,1 2 0,0 1 0,-3-3 0,-4-6 0,10 11 0,-3-1 0,-2 1 0,1 1 0,-1-1 0,1 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chemeClr val="tx1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12/12/23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12/12/23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://www.techtricksworld.com/2011/11/choosing-between-android-and-ios-a-developer%E2%80%99s-guide.html" TargetMode="External"/><Relationship Id="rId3" Type="http://schemas.openxmlformats.org/officeDocument/2006/relationships/hyperlink" Target="http://gs.statcounter.com/" TargetMode="External"/><Relationship Id="rId7" Type="http://schemas.openxmlformats.org/officeDocument/2006/relationships/hyperlink" Target="http://www.lunawebs.com/blog/2012/03/18/android-vs-ios-the-pros-and-cons-of-two-app-platforms-825/" TargetMode="External"/><Relationship Id="rId12" Type="http://schemas.openxmlformats.org/officeDocument/2006/relationships/image" Target="../media/image16.png"/><Relationship Id="rId2" Type="http://schemas.openxmlformats.org/officeDocument/2006/relationships/hyperlink" Target="http://www.technolog.msnbc.msn.com/technology/technolog/android-iphone-its-two-horse-race-12520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callingallgeeks.org/34829/android-vs-ios-pros-and-cons/" TargetMode="External"/><Relationship Id="rId11" Type="http://schemas.openxmlformats.org/officeDocument/2006/relationships/customXml" Target="../ink/ink1.xml"/><Relationship Id="rId5" Type="http://schemas.openxmlformats.org/officeDocument/2006/relationships/hyperlink" Target="http://www.wired.com/gadgetlab/2011/12/ios-revenues-vs-android/" TargetMode="External"/><Relationship Id="rId10" Type="http://schemas.openxmlformats.org/officeDocument/2006/relationships/hyperlink" Target="http://www.youtube.com/watch?v=OvdjXZnbC-o" TargetMode="External"/><Relationship Id="rId4" Type="http://schemas.openxmlformats.org/officeDocument/2006/relationships/hyperlink" Target="http://mobiledevices.about.com/od/kindattentiondevelopers/tp/Android-Os-Vs-Apple-Ios-Which-Is-Better-For-Developers.htm" TargetMode="External"/><Relationship Id="rId9" Type="http://schemas.openxmlformats.org/officeDocument/2006/relationships/hyperlink" Target="http://techsbot.com/android-vs-ios-pros-and-con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6934200" y="6553200"/>
            <a:ext cx="2133600" cy="228600"/>
          </a:xfrm>
        </p:spPr>
        <p:txBody>
          <a:bodyPr>
            <a:norm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Thanks to Mohammed Alhusein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DF6D94-AF44-3542-C4B2-4666A097E10D}"/>
              </a:ext>
            </a:extLst>
          </p:cNvPr>
          <p:cNvSpPr txBox="1"/>
          <p:nvPr/>
        </p:nvSpPr>
        <p:spPr>
          <a:xfrm>
            <a:off x="1676400" y="1371600"/>
            <a:ext cx="5257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D" sz="5400" b="1" dirty="0">
                <a:solidFill>
                  <a:schemeClr val="bg1"/>
                </a:solidFill>
              </a:rPr>
              <a:t>Facts on Mobile Application Development</a:t>
            </a:r>
          </a:p>
        </p:txBody>
      </p:sp>
    </p:spTree>
    <p:extLst>
      <p:ext uri="{BB962C8B-B14F-4D97-AF65-F5344CB8AC3E}">
        <p14:creationId xmlns:p14="http://schemas.microsoft.com/office/powerpoint/2010/main" val="3876758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Competition</a:t>
            </a:r>
          </a:p>
          <a:p>
            <a:r>
              <a:rPr lang="en-US" dirty="0"/>
              <a:t>Development</a:t>
            </a:r>
          </a:p>
          <a:p>
            <a:r>
              <a:rPr lang="en-US" dirty="0"/>
              <a:t>Publishing</a:t>
            </a:r>
          </a:p>
          <a:p>
            <a:r>
              <a:rPr lang="en-US" dirty="0"/>
              <a:t>Native Vs. </a:t>
            </a:r>
            <a:r>
              <a:rPr lang="en-US"/>
              <a:t>Cross-platform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557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OS Market Share (World)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C0493A-61D0-403B-A37C-7A1E262A09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16202"/>
            <a:ext cx="9144000" cy="50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765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OS Market Share (USA)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655CE5-BA75-DB70-DF5A-D959283FEF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7376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02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Number of apps available in leading app stores as of 1st quarter 2021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157835-677C-288D-5E84-D33498CD50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39" y="1587872"/>
            <a:ext cx="7620000" cy="525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898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5448"/>
            <a:ext cx="8839200" cy="1252728"/>
          </a:xfrm>
        </p:spPr>
        <p:txBody>
          <a:bodyPr>
            <a:noAutofit/>
          </a:bodyPr>
          <a:lstStyle/>
          <a:p>
            <a:r>
              <a:rPr lang="en-GB" sz="3600" dirty="0"/>
              <a:t>Worldwide consumer spending on mobile apps and games as of 3rd quarter 2021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5638800"/>
            <a:ext cx="8763000" cy="1219200"/>
          </a:xfrm>
        </p:spPr>
        <p:txBody>
          <a:bodyPr>
            <a:normAutofit fontScale="92500" lnSpcReduction="20000"/>
          </a:bodyPr>
          <a:lstStyle/>
          <a:p>
            <a:pPr>
              <a:spcAft>
                <a:spcPts val="600"/>
              </a:spcAft>
            </a:pPr>
            <a:r>
              <a:rPr lang="en-US" sz="2400" dirty="0"/>
              <a:t>Ease of purchase: Checkout vs. iTunes</a:t>
            </a:r>
          </a:p>
          <a:p>
            <a:pPr>
              <a:spcAft>
                <a:spcPts val="600"/>
              </a:spcAft>
            </a:pPr>
            <a:r>
              <a:rPr lang="en-US" sz="2400" dirty="0"/>
              <a:t>93% </a:t>
            </a:r>
            <a:r>
              <a:rPr lang="en-US" sz="2400" dirty="0" err="1"/>
              <a:t>iOS</a:t>
            </a:r>
            <a:r>
              <a:rPr lang="en-US" sz="2400" dirty="0"/>
              <a:t> users have iTunes accounts with credit card info. </a:t>
            </a:r>
          </a:p>
          <a:p>
            <a:pPr>
              <a:spcAft>
                <a:spcPts val="600"/>
              </a:spcAft>
            </a:pPr>
            <a:r>
              <a:rPr lang="en-US" sz="2400" dirty="0"/>
              <a:t>Google encourages </a:t>
            </a:r>
            <a:r>
              <a:rPr lang="en-US" sz="2400" i="1" dirty="0"/>
              <a:t>free stuff</a:t>
            </a:r>
            <a:r>
              <a:rPr lang="en-US" sz="2400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6B6710-ECB8-3928-760A-777D40FB09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24000"/>
            <a:ext cx="7696200" cy="411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084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Developers’ Interest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122" name="Picture 2" descr="nul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524000"/>
            <a:ext cx="7159352" cy="5040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00D8771-EA64-F6FB-90D5-5FF23EB41399}"/>
              </a:ext>
            </a:extLst>
          </p:cNvPr>
          <p:cNvSpPr/>
          <p:nvPr/>
        </p:nvSpPr>
        <p:spPr>
          <a:xfrm>
            <a:off x="148746" y="6564185"/>
            <a:ext cx="251703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BD" sz="1400" dirty="0"/>
              <a:t>https://mindsea.com/app-stats/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1A1789-72C0-D916-E7A5-B7967A0EFE40}"/>
              </a:ext>
            </a:extLst>
          </p:cNvPr>
          <p:cNvSpPr/>
          <p:nvPr/>
        </p:nvSpPr>
        <p:spPr>
          <a:xfrm>
            <a:off x="4191000" y="6564185"/>
            <a:ext cx="4953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BD" sz="1400" dirty="0"/>
              <a:t>https://www.appdevelopmentcost.com/app-development-stats</a:t>
            </a:r>
          </a:p>
        </p:txBody>
      </p:sp>
    </p:spTree>
    <p:extLst>
      <p:ext uri="{BB962C8B-B14F-4D97-AF65-F5344CB8AC3E}">
        <p14:creationId xmlns:p14="http://schemas.microsoft.com/office/powerpoint/2010/main" val="2391394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914400"/>
            <a:ext cx="8013192" cy="1636776"/>
          </a:xfrm>
        </p:spPr>
        <p:txBody>
          <a:bodyPr>
            <a:normAutofit/>
          </a:bodyPr>
          <a:lstStyle/>
          <a:p>
            <a:r>
              <a:rPr lang="en-US" sz="4800" dirty="0"/>
              <a:t>Development</a:t>
            </a:r>
          </a:p>
        </p:txBody>
      </p:sp>
    </p:spTree>
    <p:extLst>
      <p:ext uri="{BB962C8B-B14F-4D97-AF65-F5344CB8AC3E}">
        <p14:creationId xmlns:p14="http://schemas.microsoft.com/office/powerpoint/2010/main" val="3031021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Programming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Android OS: Java, </a:t>
            </a:r>
            <a:r>
              <a:rPr lang="en-US" dirty="0" err="1"/>
              <a:t>Kotlin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 err="1"/>
              <a:t>iOS</a:t>
            </a:r>
            <a:r>
              <a:rPr lang="en-US" dirty="0"/>
              <a:t>: Objective C, Swift, </a:t>
            </a:r>
            <a:r>
              <a:rPr lang="en-US" dirty="0" err="1"/>
              <a:t>SwiftUI</a:t>
            </a:r>
            <a:endParaRPr lang="en-US" dirty="0"/>
          </a:p>
          <a:p>
            <a:pPr marL="896112" lvl="3" indent="0" fontAlgn="t">
              <a:buNone/>
            </a:pPr>
            <a:endParaRPr lang="en-US" sz="1600" dirty="0">
              <a:solidFill>
                <a:srgbClr val="400080"/>
              </a:solidFill>
              <a:latin typeface="inherit"/>
            </a:endParaRPr>
          </a:p>
          <a:p>
            <a:pPr marL="896112" lvl="3" indent="0" fontAlgn="t">
              <a:buNone/>
            </a:pPr>
            <a:endParaRPr lang="en-US" sz="1600" dirty="0">
              <a:solidFill>
                <a:srgbClr val="110000"/>
              </a:solidFill>
              <a:latin typeface="inherit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157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Layout Design: Android</a:t>
            </a:r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8800"/>
            <a:ext cx="9144000" cy="495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69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Layout Design: </a:t>
            </a:r>
            <a:r>
              <a:rPr lang="en-US" dirty="0" err="1"/>
              <a:t>iOS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2E7134-72B5-2A27-475E-E8A782A67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66996"/>
            <a:ext cx="8686800" cy="529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842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Development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Android OS: </a:t>
            </a:r>
          </a:p>
          <a:p>
            <a:pPr lvl="1"/>
            <a:r>
              <a:rPr lang="en-US" dirty="0"/>
              <a:t>open platform, allowing the use of 3</a:t>
            </a:r>
            <a:r>
              <a:rPr lang="en-US" baseline="30000" dirty="0"/>
              <a:t>rd</a:t>
            </a:r>
            <a:r>
              <a:rPr lang="en-US" dirty="0"/>
              <a:t> party tools</a:t>
            </a:r>
          </a:p>
          <a:p>
            <a:pPr lvl="1"/>
            <a:r>
              <a:rPr lang="en-US" dirty="0"/>
              <a:t>Key to OS success</a:t>
            </a:r>
          </a:p>
          <a:p>
            <a:pPr lvl="1"/>
            <a:r>
              <a:rPr lang="en-US" dirty="0"/>
              <a:t>can reach core components. More like PC </a:t>
            </a:r>
            <a:r>
              <a:rPr lang="en-US" dirty="0" err="1"/>
              <a:t>swr</a:t>
            </a:r>
            <a:endParaRPr lang="en-US" dirty="0"/>
          </a:p>
          <a:p>
            <a:pPr lvl="1"/>
            <a:endParaRPr lang="en-US" sz="1800" dirty="0"/>
          </a:p>
          <a:p>
            <a:r>
              <a:rPr lang="en-US" dirty="0" err="1"/>
              <a:t>iOS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Restrictive guidelines</a:t>
            </a:r>
          </a:p>
          <a:p>
            <a:pPr lvl="1"/>
            <a:r>
              <a:rPr lang="en-US" dirty="0"/>
              <a:t>Fixed set of tools, nothing outside, nothing deep</a:t>
            </a:r>
          </a:p>
          <a:p>
            <a:pPr lvl="1"/>
            <a:r>
              <a:rPr lang="en-US" dirty="0"/>
              <a:t>No Flash!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472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Multitasking 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Android OS: </a:t>
            </a:r>
          </a:p>
          <a:p>
            <a:pPr lvl="1"/>
            <a:r>
              <a:rPr lang="en-US" dirty="0"/>
              <a:t>Very versatile </a:t>
            </a:r>
            <a:r>
              <a:rPr lang="en-US" dirty="0">
                <a:sym typeface="Wingdings" pitchFamily="2" charset="2"/>
              </a:rPr>
              <a:t> dynamic </a:t>
            </a:r>
          </a:p>
          <a:p>
            <a:pPr lvl="1"/>
            <a:r>
              <a:rPr lang="en-US" dirty="0">
                <a:sym typeface="Wingdings" pitchFamily="2" charset="2"/>
              </a:rPr>
              <a:t>Highly fragmented  challenging</a:t>
            </a:r>
          </a:p>
          <a:p>
            <a:pPr lvl="2"/>
            <a:r>
              <a:rPr lang="en-US" dirty="0">
                <a:sym typeface="Wingdings" pitchFamily="2" charset="2"/>
              </a:rPr>
              <a:t>In USA: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 Rounded MT Bold" pitchFamily="34" charset="0"/>
                <a:sym typeface="Wingdings" pitchFamily="2" charset="2"/>
              </a:rPr>
              <a:t>80</a:t>
            </a:r>
            <a:r>
              <a:rPr lang="en-US" dirty="0">
                <a:sym typeface="Wingdings" pitchFamily="2" charset="2"/>
              </a:rPr>
              <a:t> Android models </a:t>
            </a:r>
            <a:r>
              <a:rPr lang="en-US" i="1" dirty="0">
                <a:sym typeface="Wingdings" pitchFamily="2" charset="2"/>
              </a:rPr>
              <a:t>vs</a:t>
            </a:r>
            <a:r>
              <a:rPr lang="en-US" dirty="0">
                <a:sym typeface="Wingdings" pitchFamily="2" charset="2"/>
              </a:rPr>
              <a:t>.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 Rounded MT Bold" pitchFamily="34" charset="0"/>
                <a:sym typeface="Wingdings" pitchFamily="2" charset="2"/>
              </a:rPr>
              <a:t>9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iOS</a:t>
            </a:r>
            <a:r>
              <a:rPr lang="en-US" dirty="0">
                <a:sym typeface="Wingdings" pitchFamily="2" charset="2"/>
              </a:rPr>
              <a:t> models</a:t>
            </a:r>
          </a:p>
          <a:p>
            <a:pPr lvl="1"/>
            <a:r>
              <a:rPr lang="en-US" dirty="0">
                <a:sym typeface="Wingdings" pitchFamily="2" charset="2"/>
              </a:rPr>
              <a:t>Poor battery performance</a:t>
            </a:r>
          </a:p>
          <a:p>
            <a:pPr lvl="1"/>
            <a:r>
              <a:rPr lang="en-US" dirty="0">
                <a:sym typeface="Wingdings" pitchFamily="2" charset="2"/>
              </a:rPr>
              <a:t>Best notification system (e.g. emails)</a:t>
            </a:r>
            <a:endParaRPr lang="en-US" dirty="0"/>
          </a:p>
          <a:p>
            <a:pPr lvl="1"/>
            <a:endParaRPr lang="en-US" sz="1600" dirty="0"/>
          </a:p>
          <a:p>
            <a:r>
              <a:rPr lang="en-US" dirty="0" err="1"/>
              <a:t>iOS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Stable and exclusive platform</a:t>
            </a:r>
          </a:p>
          <a:p>
            <a:pPr lvl="1"/>
            <a:r>
              <a:rPr lang="en-US" dirty="0"/>
              <a:t>Fixed set of tools, with clear potential and boundaries </a:t>
            </a:r>
            <a:r>
              <a:rPr lang="en-US" dirty="0">
                <a:sym typeface="Wingdings" pitchFamily="2" charset="2"/>
              </a:rPr>
              <a:t> easier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666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Android OS: </a:t>
            </a:r>
          </a:p>
          <a:p>
            <a:pPr lvl="1"/>
            <a:r>
              <a:rPr lang="en-US" dirty="0"/>
              <a:t>Access control, isolation, web security</a:t>
            </a:r>
          </a:p>
          <a:p>
            <a:pPr lvl="1"/>
            <a:r>
              <a:rPr lang="en-US" dirty="0"/>
              <a:t>Encryption</a:t>
            </a:r>
          </a:p>
          <a:p>
            <a:pPr lvl="1"/>
            <a:r>
              <a:rPr lang="en-US" dirty="0"/>
              <a:t>Permission-based access control: </a:t>
            </a:r>
          </a:p>
          <a:p>
            <a:pPr lvl="2"/>
            <a:r>
              <a:rPr lang="en-US" dirty="0"/>
              <a:t>Static list in manifest</a:t>
            </a:r>
          </a:p>
          <a:p>
            <a:pPr lvl="2"/>
            <a:r>
              <a:rPr lang="en-US" dirty="0"/>
              <a:t>User presented with list at installation time</a:t>
            </a:r>
          </a:p>
          <a:p>
            <a:pPr lvl="1"/>
            <a:r>
              <a:rPr lang="en-US" dirty="0"/>
              <a:t>Wild West app marketplace. </a:t>
            </a:r>
          </a:p>
          <a:p>
            <a:pPr lvl="2"/>
            <a:r>
              <a:rPr lang="en-US" dirty="0"/>
              <a:t>Nearly any app is allowed to market</a:t>
            </a:r>
          </a:p>
          <a:p>
            <a:pPr lvl="2"/>
            <a:r>
              <a:rPr lang="en-US" dirty="0"/>
              <a:t>Android-specific malware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614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iOS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Access control, isolation, web security</a:t>
            </a:r>
          </a:p>
          <a:p>
            <a:pPr lvl="1"/>
            <a:r>
              <a:rPr lang="en-US" dirty="0"/>
              <a:t>Encryption</a:t>
            </a:r>
          </a:p>
          <a:p>
            <a:pPr lvl="1"/>
            <a:r>
              <a:rPr lang="en-US" dirty="0"/>
              <a:t>Permission-based access control: </a:t>
            </a:r>
          </a:p>
          <a:p>
            <a:pPr lvl="2"/>
            <a:r>
              <a:rPr lang="en-US" dirty="0"/>
              <a:t>Dialog box at run time.</a:t>
            </a:r>
          </a:p>
          <a:p>
            <a:pPr lvl="1"/>
            <a:r>
              <a:rPr lang="en-US" dirty="0" err="1"/>
              <a:t>Geolocation</a:t>
            </a:r>
            <a:endParaRPr lang="en-US" dirty="0"/>
          </a:p>
          <a:p>
            <a:pPr lvl="1"/>
            <a:r>
              <a:rPr lang="en-US" dirty="0"/>
              <a:t>Auto Erase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547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Security</a:t>
            </a:r>
          </a:p>
        </p:txBody>
      </p:sp>
      <p:pic>
        <p:nvPicPr>
          <p:cNvPr id="7170" name="Picture 2" descr="http://androidandme.com/wp-content/uploads/2011/06/Android_vs_iOS_security01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75" y="1581151"/>
            <a:ext cx="4413163" cy="413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Android_vs_iOS_security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5275" y="1619251"/>
            <a:ext cx="4360125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296562" y="5867400"/>
            <a:ext cx="8229600" cy="533400"/>
          </a:xfrm>
          <a:prstGeom prst="rect">
            <a:avLst/>
          </a:prstGeom>
        </p:spPr>
        <p:txBody>
          <a:bodyPr vert="horz" lIns="54864" tIns="91440" rtlCol="0">
            <a:normAutofit fontScale="92500" lnSpcReduction="20000"/>
          </a:bodyPr>
          <a:lstStyle>
            <a:lvl1pPr marL="438912" indent="-320040" algn="l" rtl="0" eaLnBrk="1" latinLnBrk="0" hangingPunct="1">
              <a:spcBef>
                <a:spcPts val="0"/>
              </a:spcBef>
              <a:buClr>
                <a:schemeClr val="accent1"/>
              </a:buClr>
              <a:buSzPct val="80000"/>
              <a:buFont typeface="Wingdings 2"/>
              <a:buChar char="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52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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6696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▪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61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/>
              <a:buChar char="▪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Wingdings 3"/>
              <a:buChar char=""/>
              <a:defRPr kumimoji="0"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2763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 pitchFamily="18" charset="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31136" indent="-18288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itchFamily="18" charset="2"/>
              <a:buChar char="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18872" indent="0" algn="ctr">
              <a:buNone/>
            </a:pPr>
            <a:r>
              <a:rPr lang="en-US" b="1" dirty="0"/>
              <a:t>Semantic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261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OS Upgrades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75191"/>
            <a:ext cx="8763000" cy="4625609"/>
          </a:xfrm>
        </p:spPr>
        <p:txBody>
          <a:bodyPr>
            <a:normAutofit/>
          </a:bodyPr>
          <a:lstStyle/>
          <a:p>
            <a:r>
              <a:rPr lang="en-US" dirty="0"/>
              <a:t>Android OS: </a:t>
            </a:r>
          </a:p>
          <a:p>
            <a:pPr lvl="1"/>
            <a:r>
              <a:rPr lang="en-US" dirty="0"/>
              <a:t>Millions of phones under contract cannot be updated</a:t>
            </a:r>
          </a:p>
          <a:p>
            <a:pPr lvl="1"/>
            <a:r>
              <a:rPr lang="en-US" dirty="0"/>
              <a:t>0.4% run the latest version</a:t>
            </a:r>
          </a:p>
          <a:p>
            <a:pPr lvl="1"/>
            <a:endParaRPr lang="en-US" dirty="0"/>
          </a:p>
          <a:p>
            <a:r>
              <a:rPr lang="en-US" dirty="0" err="1"/>
              <a:t>iOS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Apple disallows old devices to update </a:t>
            </a:r>
            <a:r>
              <a:rPr lang="en-US" dirty="0">
                <a:sym typeface="Wingdings" pitchFamily="2" charset="2"/>
              </a:rPr>
              <a:t>permanently </a:t>
            </a:r>
            <a:r>
              <a:rPr lang="en-US" dirty="0"/>
              <a:t>vulnerable to easy attacks</a:t>
            </a:r>
          </a:p>
          <a:p>
            <a:pPr lvl="1"/>
            <a:r>
              <a:rPr lang="en-US" dirty="0"/>
              <a:t>~90% run one of the two latest versions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596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914400"/>
            <a:ext cx="8013192" cy="1636776"/>
          </a:xfrm>
        </p:spPr>
        <p:txBody>
          <a:bodyPr>
            <a:normAutofit/>
          </a:bodyPr>
          <a:lstStyle/>
          <a:p>
            <a:r>
              <a:rPr lang="en-US" sz="4800" dirty="0"/>
              <a:t>Publishing</a:t>
            </a:r>
          </a:p>
        </p:txBody>
      </p:sp>
    </p:spTree>
    <p:extLst>
      <p:ext uri="{BB962C8B-B14F-4D97-AF65-F5344CB8AC3E}">
        <p14:creationId xmlns:p14="http://schemas.microsoft.com/office/powerpoint/2010/main" val="3031021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App Approval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Android OS: </a:t>
            </a:r>
          </a:p>
          <a:p>
            <a:pPr lvl="1"/>
            <a:r>
              <a:rPr lang="en-US" dirty="0"/>
              <a:t>Very quick! (compare to iOS)</a:t>
            </a:r>
          </a:p>
          <a:p>
            <a:pPr lvl="1"/>
            <a:endParaRPr lang="en-US" dirty="0"/>
          </a:p>
          <a:p>
            <a:r>
              <a:rPr lang="en-US" dirty="0" err="1"/>
              <a:t>iOS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Days.. and days.. and days..</a:t>
            </a:r>
          </a:p>
          <a:p>
            <a:pPr lvl="1"/>
            <a:r>
              <a:rPr lang="en-US" dirty="0"/>
              <a:t>Many restrictions 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921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Payments and Availability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Android OS: </a:t>
            </a:r>
          </a:p>
          <a:p>
            <a:pPr lvl="1"/>
            <a:r>
              <a:rPr lang="en-US" dirty="0"/>
              <a:t>Developer pays $25 one time</a:t>
            </a:r>
          </a:p>
          <a:p>
            <a:pPr lvl="1"/>
            <a:r>
              <a:rPr lang="en-US" dirty="0"/>
              <a:t>Developer earns 70% of revenue</a:t>
            </a:r>
          </a:p>
          <a:p>
            <a:pPr lvl="1"/>
            <a:r>
              <a:rPr lang="en-US" dirty="0"/>
              <a:t>Several Stores: Google Play, Amazon…</a:t>
            </a:r>
          </a:p>
          <a:p>
            <a:pPr lvl="1"/>
            <a:r>
              <a:rPr lang="en-US" dirty="0"/>
              <a:t>Paid apps available in 132 countries</a:t>
            </a:r>
          </a:p>
          <a:p>
            <a:pPr marL="118872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949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Payments and Availability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iOS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Developer pays $100 annually</a:t>
            </a:r>
          </a:p>
          <a:p>
            <a:pPr lvl="1"/>
            <a:r>
              <a:rPr lang="en-US" dirty="0"/>
              <a:t>Developers earns 70% of revenue</a:t>
            </a:r>
          </a:p>
          <a:p>
            <a:pPr lvl="1"/>
            <a:r>
              <a:rPr lang="en-US" dirty="0"/>
              <a:t>App Store only</a:t>
            </a:r>
          </a:p>
          <a:p>
            <a:pPr lvl="1"/>
            <a:r>
              <a:rPr lang="en-US" dirty="0"/>
              <a:t>Paid apps available in 155 countries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34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Which is Better?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26822"/>
              </p:ext>
            </p:extLst>
          </p:nvPr>
        </p:nvGraphicFramePr>
        <p:xfrm>
          <a:off x="2133600" y="1676400"/>
          <a:ext cx="5004178" cy="4952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2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2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837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05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OS </a:t>
                      </a:r>
                      <a:r>
                        <a:rPr lang="en-US" sz="2000" dirty="0" err="1"/>
                        <a:t>Mkt</a:t>
                      </a:r>
                      <a:r>
                        <a:rPr lang="en-US" sz="2000" dirty="0"/>
                        <a:t>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05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# of 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05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056">
                <a:tc>
                  <a:txBody>
                    <a:bodyPr/>
                    <a:lstStyle/>
                    <a:p>
                      <a:r>
                        <a:rPr lang="en-US" sz="2000" dirty="0"/>
                        <a:t>Developer Interest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056">
                <a:tc>
                  <a:txBody>
                    <a:bodyPr/>
                    <a:lstStyle/>
                    <a:p>
                      <a:r>
                        <a:rPr lang="en-US" sz="2000" dirty="0"/>
                        <a:t>Easiness</a:t>
                      </a:r>
                      <a:r>
                        <a:rPr lang="en-US" sz="2000" baseline="0" dirty="0"/>
                        <a:t> of PL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056">
                <a:tc>
                  <a:txBody>
                    <a:bodyPr/>
                    <a:lstStyle/>
                    <a:p>
                      <a:r>
                        <a:rPr lang="en-US" sz="2000" dirty="0"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056">
                <a:tc>
                  <a:txBody>
                    <a:bodyPr/>
                    <a:lstStyle/>
                    <a:p>
                      <a:r>
                        <a:rPr lang="en-US" sz="2000" dirty="0"/>
                        <a:t>Multitasking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4056">
                <a:tc>
                  <a:txBody>
                    <a:bodyPr/>
                    <a:lstStyle/>
                    <a:p>
                      <a:r>
                        <a:rPr lang="en-US" sz="2000" dirty="0"/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405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OS Upgrades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4056">
                <a:tc>
                  <a:txBody>
                    <a:bodyPr/>
                    <a:lstStyle/>
                    <a:p>
                      <a:r>
                        <a:rPr lang="en-US" sz="2000" dirty="0"/>
                        <a:t>App Approval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4056">
                <a:tc>
                  <a:txBody>
                    <a:bodyPr/>
                    <a:lstStyle/>
                    <a:p>
                      <a:r>
                        <a:rPr lang="en-US" sz="2000" dirty="0"/>
                        <a:t>Payments</a:t>
                      </a:r>
                      <a:r>
                        <a:rPr lang="en-US" sz="2000" baseline="0" dirty="0"/>
                        <a:t> &amp; Avail.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20486" name="Picture 6" descr="http://cdn5.iconfinder.com/data/icons/glyph_set/128/apple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905000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8" name="Picture 8" descr="http://aux.iconpedia.net/uploads/17209831951787883743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7770" y="2311742"/>
            <a:ext cx="382030" cy="382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http://cdn5.iconfinder.com/data/icons/glyph_set/128/apple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7770" y="2743200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://aux.iconpedia.net/uploads/17209831951787883743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6370" y="1891613"/>
            <a:ext cx="382030" cy="382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http://cdn5.iconfinder.com/data/icons/glyph_set/128/apple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175686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http://aux.iconpedia.net/uploads/17209831951787883743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616924"/>
            <a:ext cx="382030" cy="382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http://cdn5.iconfinder.com/data/icons/glyph_set/128/apple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043747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8" descr="http://aux.iconpedia.net/uploads/17209831951787883743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6370" y="4030360"/>
            <a:ext cx="382030" cy="382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8" descr="http://aux.iconpedia.net/uploads/17209831951787883743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4495800"/>
            <a:ext cx="382030" cy="382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http://cdn5.iconfinder.com/data/icons/glyph_set/128/apple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9830" y="4913871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 descr="http://cdn5.iconfinder.com/data/icons/glyph_set/128/apple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9830" y="5313407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8" descr="http://aux.iconpedia.net/uploads/17209831951787883743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7473" y="5775237"/>
            <a:ext cx="382030" cy="382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" descr="http://cdn5.iconfinder.com/data/icons/glyph_set/128/apple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6248400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8" descr="http://aux.iconpedia.net/uploads/17209831951787883743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6370" y="6235013"/>
            <a:ext cx="382030" cy="382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544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49368-DD06-C346-3E25-3368EA898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Native Vs. Cross-platform</a:t>
            </a:r>
          </a:p>
        </p:txBody>
      </p:sp>
      <p:pic>
        <p:nvPicPr>
          <p:cNvPr id="1026" name="Picture 2" descr="Native vs Cross platform">
            <a:extLst>
              <a:ext uri="{FF2B5EF4-FFF2-40B4-BE49-F238E27FC236}">
                <a16:creationId xmlns:a16="http://schemas.microsoft.com/office/drawing/2014/main" id="{E7D099F6-6712-5EDB-8720-979A562FA70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78573"/>
            <a:ext cx="6228556" cy="3649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096892F-144C-6AD1-3085-7264A2FA739B}"/>
              </a:ext>
            </a:extLst>
          </p:cNvPr>
          <p:cNvSpPr/>
          <p:nvPr/>
        </p:nvSpPr>
        <p:spPr>
          <a:xfrm>
            <a:off x="4191000" y="6394623"/>
            <a:ext cx="44196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BD" sz="1050" dirty="0"/>
              <a:t>https://www.simform.com/blog/native-vs-cross-platform-development/</a:t>
            </a:r>
          </a:p>
          <a:p>
            <a:r>
              <a:rPr lang="en-BD" sz="1050" dirty="0"/>
              <a:t>https://www.netsolutions.com/insights/native-vs-hybrid-vs-cross-platform/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65DDF3-DC53-8272-A130-D43D6074E24B}"/>
              </a:ext>
            </a:extLst>
          </p:cNvPr>
          <p:cNvSpPr/>
          <p:nvPr/>
        </p:nvSpPr>
        <p:spPr>
          <a:xfrm>
            <a:off x="118153" y="5227625"/>
            <a:ext cx="8763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BD" dirty="0"/>
              <a:t>70% of customers say they have abandoned their shopping carts because of a bad user experience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BD" dirty="0"/>
              <a:t>90% of smartphone users say they’re more likely to keep shopping if they’re having a great user experience.</a:t>
            </a:r>
            <a:endParaRPr lang="en-BD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90F338-8431-7BA7-0185-A73A23CF7B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371" y="1507682"/>
            <a:ext cx="2820531" cy="2607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17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46" y="155448"/>
            <a:ext cx="8842854" cy="1252728"/>
          </a:xfrm>
        </p:spPr>
        <p:txBody>
          <a:bodyPr>
            <a:noAutofit/>
          </a:bodyPr>
          <a:lstStyle/>
          <a:p>
            <a:r>
              <a:rPr lang="en-GB" sz="3200" dirty="0"/>
              <a:t>Cross-platform mobile frameworks used by software developers worldwide from 2019 to 2021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0D8771-EA64-F6FB-90D5-5FF23EB41399}"/>
              </a:ext>
            </a:extLst>
          </p:cNvPr>
          <p:cNvSpPr/>
          <p:nvPr/>
        </p:nvSpPr>
        <p:spPr>
          <a:xfrm>
            <a:off x="148746" y="6564185"/>
            <a:ext cx="251703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BD" sz="1400" dirty="0"/>
              <a:t>https://mindsea.com/app-stats/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1A1789-72C0-D916-E7A5-B7967A0EFE40}"/>
              </a:ext>
            </a:extLst>
          </p:cNvPr>
          <p:cNvSpPr/>
          <p:nvPr/>
        </p:nvSpPr>
        <p:spPr>
          <a:xfrm>
            <a:off x="4191000" y="6564185"/>
            <a:ext cx="4953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BD" sz="1400" dirty="0"/>
              <a:t>https://www.appdevelopmentcost.com/app-development-stats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C3277D-6A06-F227-F97C-8E4C8C33A4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42263"/>
            <a:ext cx="8382000" cy="5021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826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u="sng" dirty="0">
                <a:hlinkClick r:id="rId2"/>
              </a:rPr>
              <a:t>http://www.technolog.msnbc.msn.com/technology/technolog/android-iphone-its-two-horse-race-125203</a:t>
            </a:r>
            <a:r>
              <a:rPr lang="en-US" sz="1600" u="sng" dirty="0"/>
              <a:t>j</a:t>
            </a:r>
            <a:endParaRPr lang="en-US" sz="1600" dirty="0"/>
          </a:p>
          <a:p>
            <a:r>
              <a:rPr lang="en-US" sz="1600" u="sng" dirty="0">
                <a:hlinkClick r:id="rId3"/>
              </a:rPr>
              <a:t>http://gs.statcounter.com/#mobile_os-ww-monthly-201106-201206</a:t>
            </a:r>
            <a:endParaRPr lang="en-US" sz="1600" dirty="0"/>
          </a:p>
          <a:p>
            <a:r>
              <a:rPr lang="en-US" sz="1600" u="sng" dirty="0">
                <a:hlinkClick r:id="rId4"/>
              </a:rPr>
              <a:t>http://mobiledevices.about.com/od/kindattentiondevelopers/tp/Android-Os-Vs-Apple-Ios-Which-Is-Better-For-Developers.htm</a:t>
            </a:r>
            <a:endParaRPr lang="en-US" sz="1600" dirty="0"/>
          </a:p>
          <a:p>
            <a:r>
              <a:rPr lang="en-US" sz="1600" u="sng" dirty="0">
                <a:hlinkClick r:id="rId5"/>
              </a:rPr>
              <a:t>http://www.wired.com/gadgetlab/2011/12/ios-revenues-vs-android/</a:t>
            </a:r>
            <a:endParaRPr lang="en-US" sz="1600" dirty="0"/>
          </a:p>
          <a:p>
            <a:r>
              <a:rPr lang="en-US" sz="1600" u="sng" dirty="0">
                <a:hlinkClick r:id="rId6"/>
              </a:rPr>
              <a:t>http://www.callingallgeeks.org/34829/android-vs-ios-pros-and-cons/</a:t>
            </a:r>
            <a:endParaRPr lang="en-US" sz="1600" dirty="0"/>
          </a:p>
          <a:p>
            <a:r>
              <a:rPr lang="en-US" sz="1600" u="sng" dirty="0">
                <a:hlinkClick r:id="rId7"/>
              </a:rPr>
              <a:t>http://www.lunawebs.com/blog/2012/03/18/android-vs-ios-the-pros-and-cons-of-two-app-platforms-825/</a:t>
            </a:r>
            <a:endParaRPr lang="en-US" sz="1600" dirty="0"/>
          </a:p>
          <a:p>
            <a:r>
              <a:rPr lang="en-US" sz="1600" u="sng" dirty="0">
                <a:hlinkClick r:id="rId8"/>
              </a:rPr>
              <a:t>http://www.techtricksworld.com/2011/11/choosing-between-android-and-ios-a-developer%E2%80%99s-guide.html</a:t>
            </a:r>
            <a:r>
              <a:rPr lang="en-US" sz="1600" dirty="0"/>
              <a:t>’</a:t>
            </a:r>
          </a:p>
          <a:p>
            <a:r>
              <a:rPr lang="en-US" sz="1600" u="sng" dirty="0">
                <a:hlinkClick r:id="rId9"/>
              </a:rPr>
              <a:t>http://techsbot.com/android-vs-ios-pros-and-cons/</a:t>
            </a:r>
            <a:endParaRPr lang="en-US" sz="1600" dirty="0"/>
          </a:p>
          <a:p>
            <a:r>
              <a:rPr lang="en-US" sz="1600" u="sng" dirty="0">
                <a:hlinkClick r:id="rId10"/>
              </a:rPr>
              <a:t>http://www.youtube.com/watch?v=OvdjXZnbC-o</a:t>
            </a:r>
            <a:endParaRPr lang="en-US" sz="16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D0114F7-6151-F985-DC31-B9695238F807}"/>
                  </a:ext>
                </a:extLst>
              </p14:cNvPr>
              <p14:cNvContentPartPr/>
              <p14:nvPr/>
            </p14:nvContentPartPr>
            <p14:xfrm>
              <a:off x="168840" y="1810800"/>
              <a:ext cx="1075320" cy="3691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D0114F7-6151-F985-DC31-B9695238F80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59480" y="1801440"/>
                <a:ext cx="1094040" cy="370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3159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Custom 4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92D050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1014</TotalTime>
  <Words>662</Words>
  <Application>Microsoft Macintosh PowerPoint</Application>
  <PresentationFormat>On-screen Show (4:3)</PresentationFormat>
  <Paragraphs>166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inherit</vt:lpstr>
      <vt:lpstr>Arial</vt:lpstr>
      <vt:lpstr>Arial Rounded MT Bold</vt:lpstr>
      <vt:lpstr>Corbel</vt:lpstr>
      <vt:lpstr>Wingdings</vt:lpstr>
      <vt:lpstr>Wingdings 2</vt:lpstr>
      <vt:lpstr>Wingdings 3</vt:lpstr>
      <vt:lpstr>Module</vt:lpstr>
      <vt:lpstr>PowerPoint Presentation</vt:lpstr>
      <vt:lpstr>Outline</vt:lpstr>
      <vt:lpstr>OS Market Share (World)</vt:lpstr>
      <vt:lpstr>OS Market Share (USA)</vt:lpstr>
      <vt:lpstr>Number of apps available in leading app stores as of 1st quarter 2021</vt:lpstr>
      <vt:lpstr>Worldwide consumer spending on mobile apps and games as of 3rd quarter 2021</vt:lpstr>
      <vt:lpstr>Developers’ Interest</vt:lpstr>
      <vt:lpstr>Development</vt:lpstr>
      <vt:lpstr>Programming Language</vt:lpstr>
      <vt:lpstr>Layout Design: Android</vt:lpstr>
      <vt:lpstr>Layout Design: iOS</vt:lpstr>
      <vt:lpstr>Development Platform</vt:lpstr>
      <vt:lpstr>Multitasking Abilities</vt:lpstr>
      <vt:lpstr>Security</vt:lpstr>
      <vt:lpstr>Security</vt:lpstr>
      <vt:lpstr>Security</vt:lpstr>
      <vt:lpstr>OS Upgrades</vt:lpstr>
      <vt:lpstr>Publishing</vt:lpstr>
      <vt:lpstr>App Approval </vt:lpstr>
      <vt:lpstr>Payments and Availability</vt:lpstr>
      <vt:lpstr>Payments and Availability</vt:lpstr>
      <vt:lpstr>Which is Better?</vt:lpstr>
      <vt:lpstr>Native Vs. Cross-platform</vt:lpstr>
      <vt:lpstr>Cross-platform mobile frameworks used by software developers worldwide from 2019 to 2021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Mohamemd</dc:creator>
  <cp:lastModifiedBy>Dr. Md Mostofa Kamal Rasel</cp:lastModifiedBy>
  <cp:revision>287</cp:revision>
  <dcterms:created xsi:type="dcterms:W3CDTF">2006-08-16T00:00:00Z</dcterms:created>
  <dcterms:modified xsi:type="dcterms:W3CDTF">2023-12-12T07:15:47Z</dcterms:modified>
</cp:coreProperties>
</file>